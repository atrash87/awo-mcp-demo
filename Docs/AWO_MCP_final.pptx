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9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099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59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04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09728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FEASIBILITY &amp; PROTOTYPE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9875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Feasibility to Working Prototype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whether the Model Context Protocol can give AI assistants natural-language access to AWO's facility </a:t>
            </a:r>
            <a:r>
              <a:rPr lang="en-US" sz="155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</a:t>
            </a: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changing the pipeline that already works.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8288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Investigation &amp; Prototype  •  Volunteer Data Initiative  •  Prepared for AWO Coordination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Looked at MCP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943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summarizes an investigation into whether the Model Context Protocol (MCP) could add value to the existing AWO Welfare Data Harvester </a:t>
            </a:r>
            <a:r>
              <a:rPr lang="en-US" sz="15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project, including </a:t>
            </a:r>
            <a:r>
              <a:rPr lang="en-US" sz="15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working prototype built to test the idea directly.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5943600" cy="246888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7947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554480" y="3858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414223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is a promising </a:t>
            </a:r>
            <a:r>
              <a:rPr lang="en-US" sz="1650" b="1" i="1" dirty="0" smtClean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complement, not </a:t>
            </a:r>
            <a:r>
              <a:rPr lang="en-US" sz="16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replacement.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68680" y="4754880"/>
            <a:ext cx="5349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already solves the hard problems: collecting, cleaning, and merging data. MCP solves a different </a:t>
            </a:r>
            <a:r>
              <a:rPr lang="en-US" sz="13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how </a:t>
            </a: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AI assistants access and interact with that data, through natural language.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40880" y="237744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2880360"/>
            <a:ext cx="2286000" cy="2286000"/>
          </a:xfrm>
          <a:prstGeom prst="ellipse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0" y="2880360"/>
            <a:ext cx="2286000" cy="228600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8408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0" y="3741143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41080" y="409588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overlap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Built This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prototype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 is a standard bridge between AI assistants and existing organizational data.
It doesn't replace our data pipeline — it adds a controlled interface on top of data that's already prepared.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245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MCP let users query AWO data through natural language — instead of files, databases, or code?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75120" y="1737360"/>
            <a:ext cx="4937760" cy="1965960"/>
          </a:xfrm>
          <a:prstGeom prst="roundRect">
            <a:avLst>
              <a:gd name="adj" fmla="val 5581"/>
            </a:avLst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>
            <a:off x="6995160" y="2011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680" dirty="0"/>
          </a:p>
        </p:txBody>
      </p:sp>
      <p:sp>
        <p:nvSpPr>
          <p:cNvPr id="11" name="Text 9"/>
          <p:cNvSpPr/>
          <p:nvPr/>
        </p:nvSpPr>
        <p:spPr>
          <a:xfrm>
            <a:off x="772668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26680" y="22860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write Python / SQL, or open raw files directly to get an answer.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75120" y="4023360"/>
            <a:ext cx="4937760" cy="1965960"/>
          </a:xfrm>
          <a:prstGeom prst="roundRect">
            <a:avLst>
              <a:gd name="adj" fmla="val 5581"/>
            </a:avLst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42976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7726680" y="4251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26680" y="457200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simply ask: "Which AWO facilities provide elderly care?"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Facility Data Assistant — MCP Prototype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13443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Existing AWO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ETL pipeline that already solves the hard problem of building a high-quality facility database.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017520"/>
            <a:ext cx="301752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7307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2611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AWO websites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7914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extraction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0" y="35204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43400" y="19659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22402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5257800" y="2258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17720" y="3017520"/>
            <a:ext cx="3017520" cy="0"/>
          </a:xfrm>
          <a:prstGeom prst="line">
            <a:avLst/>
          </a:prstGeom>
          <a:noFill/>
          <a:ln w="12700">
            <a:solidFill>
              <a:srgbClr val="3E7C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names &amp; addresses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17720" y="37307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fields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17720" y="42611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17720" y="47914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merging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909560" y="35204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138160" y="19659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/>
        </p:spPr>
      </p:sp>
      <p:sp>
        <p:nvSpPr>
          <p:cNvPr id="28" name="Shape 26"/>
          <p:cNvSpPr/>
          <p:nvPr/>
        </p:nvSpPr>
        <p:spPr>
          <a:xfrm>
            <a:off x="8412480" y="22402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430" dirty="0"/>
          </a:p>
        </p:txBody>
      </p:sp>
      <p:sp>
        <p:nvSpPr>
          <p:cNvPr id="30" name="Text 28"/>
          <p:cNvSpPr/>
          <p:nvPr/>
        </p:nvSpPr>
        <p:spPr>
          <a:xfrm>
            <a:off x="9052560" y="22585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5256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412480" y="3017520"/>
            <a:ext cx="3017520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facility dataset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12480" y="37307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mapping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412480" y="426110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 (local or AWS S3)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58064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storage: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orchestrated through scrape.py — scraping, normalization, and deduplication run in sequence, but each stage can also run independently. Storage is abstracted via CloudStorageManager, so the same logic runs against local files or AWS S3.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Does MCP Solve?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not a replacement for the existing pipeline — it solves a different problem entirely.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160020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data quality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8587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4256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duplicates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99262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Producing high-quality datasets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5394960" cy="3749040"/>
          </a:xfrm>
          <a:prstGeom prst="roundRect">
            <a:avLst>
              <a:gd name="adj" fmla="val 2927"/>
            </a:avLst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23317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7269480" y="23957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69480" y="2697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data access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how people and AI systems access and interact with that </a:t>
            </a:r>
            <a:r>
              <a:rPr lang="en-US" sz="14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acting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standardized interface between AI assistants and AWO's existing data sources and software.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standard that lets AI assistants interact with external tools and data sources through one consistent </a:t>
            </a:r>
            <a:r>
              <a:rPr lang="en-US" sz="1350" dirty="0" smtClean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instead </a:t>
            </a: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custom integration for every application.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  <a:effectLst>
            <a:outerShdw blurRad="762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9077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☺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3364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06040" y="3200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62072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62072" y="29077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62072" y="3364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82312" y="3200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038344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38344" y="29077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38344" y="3364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58584" y="3200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214616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  <a:effectLst>
            <a:outerShdw blurRad="762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14616" y="29077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14616" y="3364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34856" y="3200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390888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3E7C8C"/>
          </a:solidFill>
          <a:ln/>
          <a:effectLst>
            <a:outerShdw blurRad="762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90888" y="29077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390888" y="3364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(APIs · DB · Files)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0916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never touches the database or files </a:t>
            </a:r>
            <a:r>
              <a:rPr lang="en-US" sz="1450" b="1" dirty="0" smtClean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</a:t>
            </a:r>
            <a:r>
              <a:rPr lang="en-US" sz="14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 </a:t>
            </a: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tools exposed by the MCP server, keeping access controlled and predictable.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Is an Interface Layer, Not a Pipeline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important realization: MCP sits on top of the existing </a:t>
            </a:r>
            <a:r>
              <a:rPr lang="en-US" sz="135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it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change it.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47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233172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96312" y="23317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2496312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79392" y="233172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43984" y="23317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443984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27064" y="233172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91656" y="23317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391656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74736" y="2331720"/>
            <a:ext cx="164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9328" y="23317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23317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5478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FUTURE ARCHITECTURE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65A82">
              <a:alpha val="5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(unchanged)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393192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00400" y="3931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93192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852160" y="3931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393192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503920" y="3931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39319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C7293">
              <a:alpha val="7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257800"/>
            <a:ext cx="10451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adds access, not </a:t>
            </a:r>
            <a:r>
              <a:rPr lang="en-US" sz="1500" b="1" i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steps, the </a:t>
            </a: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above stays exactly as it is today.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Prototype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read-only proof of concept — simple enough to build and evaluate quickly.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7F7F9"/>
          </a:solidFill>
          <a:ln w="12700">
            <a:solidFill>
              <a:srgbClr val="E7E7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65960"/>
            <a:ext cx="1581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58568" y="2400300"/>
            <a:ext cx="146304" cy="0"/>
          </a:xfrm>
          <a:prstGeom prst="line">
            <a:avLst/>
          </a:prstGeom>
          <a:noFill/>
          <a:ln w="25400">
            <a:solidFill>
              <a:srgbClr val="6B6D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23160" y="19659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7F7F9"/>
          </a:solidFill>
          <a:ln w="12700">
            <a:solidFill>
              <a:srgbClr val="E7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8024" y="1965960"/>
            <a:ext cx="1581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33088" y="2400300"/>
            <a:ext cx="146304" cy="0"/>
          </a:xfrm>
          <a:prstGeom prst="line">
            <a:avLst/>
          </a:prstGeom>
          <a:noFill/>
          <a:ln w="25400">
            <a:solidFill>
              <a:srgbClr val="6B6D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19659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352544" y="1965960"/>
            <a:ext cx="1581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07608" y="2400300"/>
            <a:ext cx="146304" cy="0"/>
          </a:xfrm>
          <a:prstGeom prst="line">
            <a:avLst/>
          </a:prstGeom>
          <a:noFill/>
          <a:ln w="25400">
            <a:solidFill>
              <a:srgbClr val="6B6D7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72200" y="19659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7F7F9"/>
          </a:solidFill>
          <a:ln w="12700">
            <a:solidFill>
              <a:srgbClr val="E7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1965960"/>
            <a:ext cx="1581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82128" y="2400300"/>
            <a:ext cx="146304" cy="0"/>
          </a:xfrm>
          <a:prstGeom prst="line">
            <a:avLst/>
          </a:prstGeom>
          <a:noFill/>
          <a:ln w="25400">
            <a:solidFill>
              <a:srgbClr val="6B6D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46720" y="19659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7F7F9"/>
          </a:solidFill>
          <a:ln w="12700">
            <a:solidFill>
              <a:srgbClr val="E7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01584" y="1965960"/>
            <a:ext cx="1581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756648" y="2400300"/>
            <a:ext cx="146304" cy="0"/>
          </a:xfrm>
          <a:prstGeom prst="line">
            <a:avLst/>
          </a:prstGeom>
          <a:noFill/>
          <a:ln w="25400">
            <a:solidFill>
              <a:srgbClr val="6B6D7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21240" y="1965960"/>
            <a:ext cx="1691640" cy="868680"/>
          </a:xfrm>
          <a:prstGeom prst="roundRect">
            <a:avLst>
              <a:gd name="adj" fmla="val 7368"/>
            </a:avLst>
          </a:prstGeom>
          <a:solidFill>
            <a:srgbClr val="F7F7F9"/>
          </a:solidFill>
          <a:ln w="12700">
            <a:solidFill>
              <a:srgbClr val="E7E7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76104" y="1965960"/>
            <a:ext cx="1581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Response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READ-ONLY TOOLS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2B2D42"/>
          </a:solidFill>
          <a:ln/>
          <a:effectLst>
            <a:outerShdw blurRad="1016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search_facilities()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4800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facilities matching a query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37490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2B2D42"/>
          </a:solidFill>
          <a:ln/>
          <a:effectLst>
            <a:outerShdw blurRad="1016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0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count_facilities()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800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counts by region or type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7490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2B2D42"/>
          </a:solidFill>
          <a:ln/>
          <a:effectLst>
            <a:outerShdw blurRad="101600" dist="38100" dir="5400000" algn="bl" rotWithShape="0">
              <a:srgbClr val="1A1A2E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21040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missing_contact_information()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321040" y="4800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incomplete records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71276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Didn't Just Propose </a:t>
            </a:r>
            <a:r>
              <a:rPr lang="en-US" sz="2700" b="1" dirty="0" smtClean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It, We </a:t>
            </a: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read-only prototype was implemented and tested end-to-end on a sample facilities dataset.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391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444752" y="20574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44752" y="22402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ea typeface="Courier New" pitchFamily="34" charset="-122"/>
                <a:cs typeface="Courier New" pitchFamily="34" charset="-120"/>
              </a:rPr>
              <a:t>count_facilities()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" y="2788920"/>
            <a:ext cx="3099816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26080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154680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facilities do we have?"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" y="3794760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" y="4014216"/>
            <a:ext cx="3099816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14216"/>
            <a:ext cx="2843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178308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4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99432" y="20391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599432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☷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5239512" y="20574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39512" y="22402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ea typeface="Courier New" pitchFamily="34" charset="-122"/>
                <a:cs typeface="Courier New" pitchFamily="34" charset="-120"/>
              </a:rPr>
              <a:t>find_by_city</a:t>
            </a: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("Berlin")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99432" y="2788920"/>
            <a:ext cx="3099816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2926080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9432" y="3154680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me facilities in Berlin"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99432" y="3794760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99432" y="4014216"/>
            <a:ext cx="3099816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4014216"/>
            <a:ext cx="2843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Kita Mitte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Senioren Berlin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1783080"/>
            <a:ext cx="3611880" cy="3246120"/>
          </a:xfrm>
          <a:prstGeom prst="roundRect">
            <a:avLst>
              <a:gd name="adj" fmla="val 3380"/>
            </a:avLst>
          </a:prstGeom>
          <a:solidFill>
            <a:srgbClr val="F4F7FA"/>
          </a:solidFill>
          <a:ln/>
        </p:spPr>
      </p:sp>
      <p:sp>
        <p:nvSpPr>
          <p:cNvPr id="28" name="Shape 26"/>
          <p:cNvSpPr/>
          <p:nvPr/>
        </p:nvSpPr>
        <p:spPr>
          <a:xfrm>
            <a:off x="8394192" y="20391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8394192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430" dirty="0"/>
          </a:p>
        </p:txBody>
      </p:sp>
      <p:sp>
        <p:nvSpPr>
          <p:cNvPr id="30" name="Text 28"/>
          <p:cNvSpPr/>
          <p:nvPr/>
        </p:nvSpPr>
        <p:spPr>
          <a:xfrm>
            <a:off x="9034272" y="205740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34272" y="224028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1295C"/>
                </a:solidFill>
                <a:ea typeface="Courier New" pitchFamily="34" charset="-122"/>
                <a:cs typeface="Courier New" pitchFamily="34" charset="-120"/>
              </a:rPr>
              <a:t>find_by_service</a:t>
            </a:r>
            <a:r>
              <a:rPr lang="en-US" sz="115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("elderly care")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94192" y="2788920"/>
            <a:ext cx="3099816" cy="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94192" y="2926080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94192" y="3154680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elderly care facilities"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94192" y="3794760"/>
            <a:ext cx="3099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394192" y="4014216"/>
            <a:ext cx="3099816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22208" y="4014216"/>
            <a:ext cx="28437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Senioren Berlin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Pflege Dresden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21295C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5257800"/>
            <a:ext cx="10451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 practice: 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MCP server (FastMCP) ↔ test MCP client ↔ CSV </a:t>
            </a:r>
            <a:r>
              <a:rPr lang="en-US" sz="135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the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query-to-response workflow works, validating the architecture on the previous slides.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CONCRETELY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Pipeline Stages to MCP Tools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already </a:t>
            </a:r>
            <a:r>
              <a:rPr lang="en-US" sz="1350" dirty="0" smtClean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each </a:t>
            </a: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and output maps naturally onto a tool, no rewrite needed.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396849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Stage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Component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MCP Tool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Places / OSM scrapers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scrape_google_places(), scrape_osm()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 &amp; entity merging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normalize_all_scraped_data(), EntityMerger()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run statistics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get_data_coverage_stats()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Access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entities_merged_canonical.csv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search_facilities(), find_by_city()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entities_merged_provenance.csv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explain_provenance(record_id)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Ad-hoc summaries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generate_summary_report()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USE CASE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Provenance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already produces a provenance dataset mapping every canonical record back to its original </a:t>
            </a:r>
            <a:r>
              <a:rPr lang="en-US" sz="1350" dirty="0" smtClean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turning </a:t>
            </a: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from a search tool into an explainability layer.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2011680" y="26517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was this facility merged?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343400" y="23774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0" y="26517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original sources contributed?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138160" y="23774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0" y="26517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2651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source supplied the phone number?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29200"/>
            <a:ext cx="104515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like this is difficult to surface through a </a:t>
            </a:r>
            <a:r>
              <a:rPr lang="en-US" sz="1500" i="1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spreadsheet, but </a:t>
            </a:r>
            <a:r>
              <a:rPr lang="en-US" sz="15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for an AI assistant to answer on request.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UPSIDE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Benefits for AWO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Access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54480" y="262432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ask questions </a:t>
            </a:r>
            <a:r>
              <a:rPr lang="en-US" sz="12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directly, "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facilities are missing phone numbers?" </a:t>
            </a:r>
            <a:r>
              <a:rPr lang="en-US" sz="12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writing SQL or Excel filters.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2402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Technical Barrier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269480" y="262432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staff can explore data through an AI assistant without learning databases or programming.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89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AI Integration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54480" y="477316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MCP interface serves every future AI </a:t>
            </a:r>
            <a:r>
              <a:rPr lang="en-US" sz="12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no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integration per platform.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114800"/>
            <a:ext cx="5394960" cy="1874520"/>
          </a:xfrm>
          <a:prstGeom prst="roundRect">
            <a:avLst>
              <a:gd name="adj" fmla="val 5854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4389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of Existing Code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269480" y="4773168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pipeline functions are wrapped as tools, not </a:t>
            </a:r>
            <a:r>
              <a:rPr lang="en-US" sz="1250" dirty="0" smtClean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rewritten, reducing </a:t>
            </a: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and preserving prior work.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MCP Does NOT Solve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 important: these remain the responsibility of the existing pipeline.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450592"/>
            <a:ext cx="420624" cy="420624"/>
          </a:xfrm>
          <a:prstGeom prst="ellipse">
            <a:avLst/>
          </a:prstGeom>
          <a:solidFill>
            <a:srgbClr val="8B2E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505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scraping quality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313639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255264"/>
            <a:ext cx="420624" cy="420624"/>
          </a:xfrm>
          <a:prstGeom prst="ellipse">
            <a:avLst/>
          </a:prstGeom>
          <a:solidFill>
            <a:srgbClr val="8B2E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136392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normalization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059936"/>
            <a:ext cx="420624" cy="420624"/>
          </a:xfrm>
          <a:prstGeom prst="ellipse">
            <a:avLst/>
          </a:prstGeom>
          <a:solidFill>
            <a:srgbClr val="8B2E3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599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941064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deduplication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474573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864608"/>
            <a:ext cx="420624" cy="420624"/>
          </a:xfrm>
          <a:prstGeom prst="ellipse">
            <a:avLst/>
          </a:prstGeom>
          <a:solidFill>
            <a:srgbClr val="8B2E3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864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745736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ETL pipeline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48640" y="5550408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7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5669280"/>
            <a:ext cx="420624" cy="420624"/>
          </a:xfrm>
          <a:prstGeom prst="ellipse">
            <a:avLst/>
          </a:prstGeom>
          <a:solidFill>
            <a:srgbClr val="8B2E3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6692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5550408"/>
            <a:ext cx="9994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improve the underlying data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FORWARD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Questions for AWO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answers will determine where MCP provides the greatest value.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773936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canonical dataset ultimately </a:t>
            </a:r>
            <a:r>
              <a:rPr lang="en-US" sz="1350" dirty="0" smtClean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consumed, AWS </a:t>
            </a: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only, an internal database, or existing facility management software?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95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340864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employees currently access the processed data?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62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907792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repetitive questions or manual tasks consume the most time?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29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3474720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existing Python functions would provide the greatest value if exposed as MCP tools?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0965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096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041648"/>
            <a:ext cx="10451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existing internal APIs or databases that should be connected instead of directly exposing CSV files?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09160"/>
            <a:ext cx="104515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better question for the meeting:  </a:t>
            </a: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"Can AI search the data?" </a:t>
            </a:r>
            <a:r>
              <a:rPr lang="en-US" sz="1450" i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but </a:t>
            </a: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"Which parts of your workflow should an AI assistant be able to interact with?"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Standardized Interface to a Modular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451592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the pipeline is already modular and centrally orchestrated, MCP could expose both data products (canonical entities, provenance, analysis outputs) and selected pipeline operations (scraping, normalization, deduplication) as reusable, AI-accessible tools — complementing the existing architecture without requiring changes to the core pipeline.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377647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3520440"/>
            <a:ext cx="97200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confirms it: a working MCP server, tested end-to-end, already returns correct answers to natural-language queries on sample AWO data.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worth confirming: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ultimately depends on how AWO currently stores, accesses, and uses the canonical dataset after the pipeline finishes.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part of the AWO Welfare Data Harvester volunteer project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AWO Welfare Data Harvester — MCP Feasibility &amp; Prototype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1477</Words>
  <Application>Microsoft Office PowerPoint</Application>
  <PresentationFormat>Widescreen</PresentationFormat>
  <Paragraphs>281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Hasan Alatrash</cp:lastModifiedBy>
  <cp:revision>4</cp:revision>
  <dcterms:created xsi:type="dcterms:W3CDTF">2026-07-23T15:23:25Z</dcterms:created>
  <dcterms:modified xsi:type="dcterms:W3CDTF">2026-07-23T16:51:23Z</dcterms:modified>
</cp:coreProperties>
</file>